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0KMuWZIE8Um9kRp+BcXQJVaMm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E549B7-6B4D-4142-A10F-5D95F0294862}">
  <a:tblStyle styleId="{2CE549B7-6B4D-4142-A10F-5D95F02948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a26130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a26130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fa26130d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fa26130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fa26130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fa26130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lab.research.google.com/drive/107UP74diTcCFV4u-5ty6auMlCOfb6IgY?authuser=1#scrollTo=YwaSBT88Qo2w" TargetMode="External"/><Relationship Id="rId4" Type="http://schemas.openxmlformats.org/officeDocument/2006/relationships/hyperlink" Target="https://drive.google.com/drive/folders/1nmhSoO9RaddDAS3Jld76DT0IcU0Cf1eP?usp=sharing" TargetMode="External"/><Relationship Id="rId5" Type="http://schemas.openxmlformats.org/officeDocument/2006/relationships/hyperlink" Target="https://tinyurl.com/csa-using-agentic-ai" TargetMode="External"/><Relationship Id="rId6" Type="http://schemas.openxmlformats.org/officeDocument/2006/relationships/hyperlink" Target="https://platform.openai.com/account/api-keys" TargetMode="External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earn.deeplearning.ai/courses/agentic-ai/information" TargetMode="External"/><Relationship Id="rId4" Type="http://schemas.openxmlformats.org/officeDocument/2006/relationships/hyperlink" Target="https://www.youtube.com/watch?v=k1njvbBmfsw&amp;t=3585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fa26130d9_0_0"/>
          <p:cNvSpPr txBox="1"/>
          <p:nvPr>
            <p:ph type="ctrTitle"/>
          </p:nvPr>
        </p:nvSpPr>
        <p:spPr>
          <a:xfrm>
            <a:off x="1026527" y="232325"/>
            <a:ext cx="6922500" cy="118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80">
                <a:latin typeface="Helvetica Neue"/>
                <a:ea typeface="Helvetica Neue"/>
                <a:cs typeface="Helvetica Neue"/>
                <a:sym typeface="Helvetica Neue"/>
              </a:rPr>
              <a:t>IEEE Agentic AI Summit - 2025</a:t>
            </a:r>
            <a:endParaRPr sz="218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g3afa26130d9_0_0"/>
          <p:cNvSpPr txBox="1"/>
          <p:nvPr>
            <p:ph idx="1" type="subTitle"/>
          </p:nvPr>
        </p:nvSpPr>
        <p:spPr>
          <a:xfrm>
            <a:off x="332625" y="1443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</a:t>
            </a:r>
            <a:r>
              <a:rPr lang="en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Service Agent using Agentic AI </a:t>
            </a:r>
            <a:endParaRPr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g3afa26130d9_0_0"/>
          <p:cNvSpPr txBox="1"/>
          <p:nvPr>
            <p:ph type="ctrTitle"/>
          </p:nvPr>
        </p:nvSpPr>
        <p:spPr>
          <a:xfrm>
            <a:off x="2166852" y="3881675"/>
            <a:ext cx="6922500" cy="118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80">
                <a:latin typeface="Helvetica Neue"/>
                <a:ea typeface="Helvetica Neue"/>
                <a:cs typeface="Helvetica Neue"/>
                <a:sym typeface="Helvetica Neue"/>
              </a:rPr>
              <a:t>Presented By: Sakshi Chourasia </a:t>
            </a:r>
            <a:endParaRPr sz="218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80"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(Senior Software Engineer)</a:t>
            </a:r>
            <a:endParaRPr sz="218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5143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Agentic Design Patterns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936600" y="1525950"/>
            <a:ext cx="7737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274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Font typeface="Helvetica Neue"/>
              <a:buChar char="-"/>
            </a:pPr>
            <a:r>
              <a:rPr lang="en" sz="2270">
                <a:latin typeface="Helvetica Neue"/>
                <a:ea typeface="Helvetica Neue"/>
                <a:cs typeface="Helvetica Neue"/>
                <a:sym typeface="Helvetica Neue"/>
              </a:rPr>
              <a:t>Reflections: LLM examines it own output</a:t>
            </a:r>
            <a:endParaRPr sz="227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2380"/>
              <a:buNone/>
            </a:pPr>
            <a:r>
              <a:t/>
            </a:r>
            <a:endParaRPr sz="2380"/>
          </a:p>
        </p:txBody>
      </p:sp>
      <p:sp>
        <p:nvSpPr>
          <p:cNvPr id="63" name="Google Shape;63;p1"/>
          <p:cNvSpPr txBox="1"/>
          <p:nvPr/>
        </p:nvSpPr>
        <p:spPr>
          <a:xfrm>
            <a:off x="936600" y="2173975"/>
            <a:ext cx="567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2200"/>
              <a:buFont typeface="Helvetica Neue"/>
              <a:buChar char="-"/>
            </a:pPr>
            <a:r>
              <a:rPr lang="en" sz="2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 use: LLM uses different tools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936600" y="2868813"/>
            <a:ext cx="78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2200"/>
              <a:buFont typeface="Helvetica Neue"/>
              <a:buChar char="-"/>
            </a:pPr>
            <a:r>
              <a:rPr lang="en" sz="2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Planning: LLM decides the sequence of steps</a:t>
            </a:r>
            <a:endParaRPr sz="2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936600" y="3564175"/>
            <a:ext cx="554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2200"/>
              <a:buFont typeface="Helvetica Neue"/>
              <a:buChar char="-"/>
            </a:pPr>
            <a:r>
              <a:rPr lang="en" sz="2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Multi-agent Collaboration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Planning: Agentic Design Patterns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311700" y="15084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Helps you build Highly Autonomous Agents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No Hard Coding of Steps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Planning Example: Customer Service Agent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379200" y="1217675"/>
            <a:ext cx="45510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Customer Inventory Table</a:t>
            </a:r>
            <a:endParaRPr/>
          </a:p>
        </p:txBody>
      </p:sp>
      <p:graphicFrame>
        <p:nvGraphicFramePr>
          <p:cNvPr id="78" name="Google Shape;78;p3"/>
          <p:cNvGraphicFramePr/>
          <p:nvPr/>
        </p:nvGraphicFramePr>
        <p:xfrm>
          <a:off x="952550" y="17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{2CE549B7-6B4D-4142-A10F-5D95F0294862}</a:tableStyleId>
              </a:tblPr>
              <a:tblGrid>
                <a:gridCol w="1079575"/>
                <a:gridCol w="760450"/>
                <a:gridCol w="1693275"/>
                <a:gridCol w="785000"/>
                <a:gridCol w="1079575"/>
              </a:tblGrid>
              <a:tr h="34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count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Moon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Oversized round plastic style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Classic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Round profile, gold frame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Aviator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Timeless Pilot Flight For any occasion, metal frame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5000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3"/>
          <p:cNvSpPr/>
          <p:nvPr/>
        </p:nvSpPr>
        <p:spPr>
          <a:xfrm>
            <a:off x="7041400" y="2048300"/>
            <a:ext cx="1957800" cy="114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query -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 me the list of glasses which are round frame and less than 1000 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Customer Service Agent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Colab Link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https://tinyurl.com/csa-notebook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Google Drive Link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" sz="1000" u="sng">
                <a:solidFill>
                  <a:schemeClr val="hlink"/>
                </a:solidFill>
                <a:hlinkClick r:id="rId5"/>
              </a:rPr>
              <a:t>https://tinyurl.com/csa-using-agentic-ai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Create an OpenAI API key: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accent5"/>
                </a:solidFill>
              </a:rPr>
              <a:t>https://platform.openai.com/welcome?step=create</a:t>
            </a:r>
            <a:endParaRPr sz="110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4471" y="1110896"/>
            <a:ext cx="2696150" cy="26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fa26130d9_0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fa26130d9_0_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Helvetica Neue"/>
              <a:buChar char="-"/>
            </a:pPr>
            <a:r>
              <a:rPr lang="en" sz="17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DeepLearning.AI – Agentic AI by Andrew Ng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Font typeface="Helvetica Neue"/>
              <a:buChar char="-"/>
            </a:pPr>
            <a:r>
              <a:rPr lang="en" sz="17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Stanford CS230: Agents, Prompts, and RAG.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fa26130d9_0_15"/>
          <p:cNvSpPr txBox="1"/>
          <p:nvPr>
            <p:ph type="title"/>
          </p:nvPr>
        </p:nvSpPr>
        <p:spPr>
          <a:xfrm>
            <a:off x="1210750" y="1518150"/>
            <a:ext cx="63603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Thank You Everyone,</a:t>
            </a:r>
            <a:r>
              <a:rPr lang="en" sz="1940"/>
              <a:t> </a:t>
            </a:r>
            <a:r>
              <a:rPr lang="en" sz="1985"/>
              <a:t>w</a:t>
            </a:r>
            <a:r>
              <a:rPr lang="en" sz="1985"/>
              <a:t>ish you great Learning ahead!</a:t>
            </a:r>
            <a:endParaRPr sz="198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